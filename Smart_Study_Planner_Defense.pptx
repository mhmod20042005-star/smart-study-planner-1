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F3864"/>
                </a:solidFill>
                <a:latin typeface="Arial"/>
              </a:rPr>
              <a:t>Sprint Velocity (Story Points)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Story Points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Sprint 1</c:v>
                </c:pt>
                <c:pt idx="1">
                  <c:v>Sprint 2</c:v>
                </c:pt>
                <c:pt idx="2">
                  <c:v>Sprint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35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F3-4750-9886-7E3C431F4C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PV (Planned)</c:v>
                </c:pt>
              </c:strCache>
            </c:strRef>
          </c:tx>
          <c:spPr>
            <a:ln w="3175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Sprint 0</c:v>
                </c:pt>
                <c:pt idx="1">
                  <c:v>Sprint 1</c:v>
                </c:pt>
                <c:pt idx="2">
                  <c:v>Sprint 2</c:v>
                </c:pt>
                <c:pt idx="3">
                  <c:v>Sprint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25</c:v>
                </c:pt>
                <c:pt idx="2">
                  <c:v>57</c:v>
                </c:pt>
                <c:pt idx="3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3B-48D3-A6FA-CECB9CA3CD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 (Earned)</c:v>
                </c:pt>
              </c:strCache>
            </c:strRef>
          </c:tx>
          <c:spPr>
            <a:ln w="31750" cap="flat">
              <a:solidFill>
                <a:srgbClr val="057A5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57A55"/>
              </a:solidFill>
              <a:ln w="9525" cap="flat">
                <a:solidFill>
                  <a:srgbClr val="057A55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Sprint 0</c:v>
                </c:pt>
                <c:pt idx="1">
                  <c:v>Sprint 1</c:v>
                </c:pt>
                <c:pt idx="2">
                  <c:v>Sprint 2</c:v>
                </c:pt>
                <c:pt idx="3">
                  <c:v>Sprint 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20</c:v>
                </c:pt>
                <c:pt idx="2">
                  <c:v>55</c:v>
                </c:pt>
                <c:pt idx="3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3B-48D3-A6FA-CECB9CA3CD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524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219456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DEFENSE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Study Planner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academic planner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course-level collaboration hubs.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60807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StudyHub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80760" y="960120"/>
            <a:ext cx="2834640" cy="621792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6144768" y="978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Mahmod Khshan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44768" y="1234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 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655064"/>
            <a:ext cx="2834640" cy="621792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6144768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Baloom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44768" y="1929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2350008"/>
            <a:ext cx="2834640" cy="621792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  <p:txBody>
          <a:bodyPr/>
          <a:lstStyle/>
          <a:p>
            <a:r>
              <a:rPr lang="he-IL" altLang="he-IL" sz="1200" dirty="0" err="1">
                <a:solidFill>
                  <a:schemeClr val="bg1"/>
                </a:solidFill>
                <a:latin typeface="inherit"/>
              </a:rPr>
              <a:t>Abd</a:t>
            </a:r>
            <a:r>
              <a:rPr lang="he-IL" altLang="he-IL" sz="1200" dirty="0">
                <a:solidFill>
                  <a:schemeClr val="bg1"/>
                </a:solidFill>
                <a:latin typeface="inherit"/>
              </a:rPr>
              <a:t> </a:t>
            </a:r>
            <a:r>
              <a:rPr lang="he-IL" altLang="he-IL" sz="1200" dirty="0" err="1">
                <a:solidFill>
                  <a:schemeClr val="bg1"/>
                </a:solidFill>
                <a:latin typeface="inherit"/>
              </a:rPr>
              <a:t>Al</a:t>
            </a:r>
            <a:r>
              <a:rPr lang="he-IL" altLang="he-IL" sz="1200" dirty="0">
                <a:solidFill>
                  <a:schemeClr val="bg1"/>
                </a:solidFill>
                <a:latin typeface="inherit"/>
              </a:rPr>
              <a:t> </a:t>
            </a:r>
            <a:r>
              <a:rPr lang="he-IL" altLang="he-IL" sz="1200" dirty="0" err="1">
                <a:solidFill>
                  <a:schemeClr val="bg1"/>
                </a:solidFill>
                <a:latin typeface="inherit"/>
              </a:rPr>
              <a:t>Majid</a:t>
            </a:r>
            <a:r>
              <a:rPr lang="he-IL" altLang="he-IL" sz="1200" dirty="0">
                <a:solidFill>
                  <a:schemeClr val="bg1"/>
                </a:solidFill>
                <a:latin typeface="inherit"/>
              </a:rPr>
              <a:t> </a:t>
            </a:r>
            <a:r>
              <a:rPr lang="he-IL" altLang="he-IL" sz="1200" dirty="0" err="1">
                <a:solidFill>
                  <a:schemeClr val="bg1"/>
                </a:solidFill>
                <a:latin typeface="inherit"/>
              </a:rPr>
              <a:t>Ajmil</a:t>
            </a:r>
            <a:endParaRPr lang="he-IL" altLang="he-IL" sz="1200" dirty="0">
              <a:solidFill>
                <a:schemeClr val="bg1"/>
              </a:solidFill>
              <a:latin typeface="inherit"/>
            </a:endParaRPr>
          </a:p>
          <a:p>
            <a:endParaRPr lang="he-IL" dirty="0"/>
          </a:p>
        </p:txBody>
      </p:sp>
      <p:sp>
        <p:nvSpPr>
          <p:cNvPr id="16" name="Text 14"/>
          <p:cNvSpPr/>
          <p:nvPr/>
        </p:nvSpPr>
        <p:spPr>
          <a:xfrm>
            <a:off x="6144768" y="2368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44768" y="2624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3044952"/>
            <a:ext cx="2834640" cy="621792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6144768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 Arabi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4768" y="3319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3739896"/>
            <a:ext cx="2834640" cy="621792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6144768" y="3758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Sbetan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44768" y="40142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DevOps Lead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 Management  ·  Spring 2026</a:t>
            </a:r>
            <a:endParaRPr lang="en-US" sz="1100" dirty="0"/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7D6C5A0E-F783-01C9-5D43-FDE09FD35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78432"/>
            <a:ext cx="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9116A982-3645-D4A6-51E6-37DC11F36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he-IL" altLang="he-IL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</a:br>
            <a:endParaRPr kumimoji="0" lang="he-IL" altLang="he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"/>
            <a:ext cx="50292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StudyHub  ·  Smart Study Planner  ·  Spring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377440" cy="2286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 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23774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use WhatsApp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Telegram for course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file sharing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yet find it inadequate.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17520" y="822960"/>
            <a:ext cx="5760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3090672" y="9144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896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Deadlines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11704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apps hold deadlines, but know nothing about courses.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17520" y="1783080"/>
            <a:ext cx="5760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3090672" y="18745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11880" y="1856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Separation Between Courses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21305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chats mix all courses together; history gets buried.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017520" y="2743200"/>
            <a:ext cx="5760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3090672" y="283464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11880" y="2816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File Sharing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11880" y="30906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links shared in chats break, expire, or get lost.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017520" y="3703320"/>
            <a:ext cx="5760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3090672" y="379476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611880" y="3776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Integration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11880" y="4050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connects the planner, the chat, and the files in one place.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Our Solution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"/>
            <a:ext cx="50292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StudyHub  ·  Smart Study Planner  ·  Spring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2535702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384048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365760" y="822960"/>
            <a:ext cx="3840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1248" y="1261872"/>
            <a:ext cx="21525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&amp; exams sorted by deadline, across all courses in one view.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2535702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384048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365760" y="2103120"/>
            <a:ext cx="3840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2194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Groups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" y="2542032"/>
            <a:ext cx="1906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course with course_id + join_code. Teammates join instantly.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2535702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384048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365760" y="3383280"/>
            <a:ext cx="3840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3474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Hub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1248" y="3822192"/>
            <a:ext cx="1906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Materials (PDF upload) · Q&amp;A · Activity Feed — per course.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804672"/>
            <a:ext cx="3977640" cy="3840480"/>
          </a:xfrm>
          <a:prstGeom prst="rect">
            <a:avLst/>
          </a:prstGeom>
          <a:solidFill>
            <a:srgbClr val="D6E4F7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 dirty="0"/>
          </a:p>
        </p:txBody>
      </p:sp>
      <p:sp>
        <p:nvSpPr>
          <p:cNvPr id="23" name="Text 21"/>
          <p:cNvSpPr/>
          <p:nvPr/>
        </p:nvSpPr>
        <p:spPr>
          <a:xfrm>
            <a:off x="4800600" y="804672"/>
            <a:ext cx="3977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46451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bejewelled-valkyrie-fee7bb.netlify.app</a:t>
            </a:r>
            <a:endParaRPr lang="en-US" sz="900" dirty="0"/>
          </a:p>
        </p:txBody>
      </p:sp>
      <p:pic>
        <p:nvPicPr>
          <p:cNvPr id="26" name="תמונה 25">
            <a:extLst>
              <a:ext uri="{FF2B5EF4-FFF2-40B4-BE49-F238E27FC236}">
                <a16:creationId xmlns:a16="http://schemas.microsoft.com/office/drawing/2014/main" id="{49B88EC0-19B5-352F-D17C-AEED27CFE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781" y="762740"/>
            <a:ext cx="5783580" cy="38824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"/>
            <a:ext cx="50292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StudyHub  ·  Smart Study Planner  ·  Spring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7280" y="822960"/>
            <a:ext cx="6949440" cy="8961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1188720" y="8778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877824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 ·  index.html  ·  Vanilla JavaScript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719072"/>
            <a:ext cx="0" cy="24688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7465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Fetch API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97280" y="2057400"/>
            <a:ext cx="6949440" cy="8961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1188720" y="21122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2112264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 ·  Python Flask REST API  (35 routes)  ·  is_course_member() guard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953512"/>
            <a:ext cx="0" cy="24688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4434840" y="3063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980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97280" y="3291840"/>
            <a:ext cx="6949440" cy="8961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1188720" y="33467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46120" y="3346704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 (10 collections)  +  GridFS (binary file storage)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4315968"/>
            <a:ext cx="694944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1188720" y="4315968"/>
            <a:ext cx="67665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Course Hub routes call  is_course_member(course_id, username)  before returning or modifying any hub data.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StudyHub  ·  Smart Study Planner  ·  Spring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097280" y="1554480"/>
            <a:ext cx="420624" cy="4206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5727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or register with a username and password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148840"/>
            <a:ext cx="420624" cy="4206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216712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institution and degree to discover course groups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2743200"/>
            <a:ext cx="420624" cy="4206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109728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76148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an existing course by </a:t>
            </a:r>
            <a:r>
              <a:rPr lang="en-US" sz="1400" dirty="0" err="1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join_code</a:t>
            </a:r>
            <a:r>
              <a:rPr lang="en-US" sz="14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create a new course group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3337560"/>
            <a:ext cx="420624" cy="4206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109728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35584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assignment or exam — see it appear on the dashboard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3931920"/>
            <a:ext cx="420624" cy="4206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109728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395020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Course Hub — post a message, upload a file, ask a Q&amp;A question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645920" y="4572000"/>
            <a:ext cx="585216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1645920" y="45720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https://bejewelled-valkyrie-fee7bb.netlify.app/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Sprint Journey &amp; Velocity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"/>
            <a:ext cx="50292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StudyHub  ·  Smart Study Planner  ·  Spring 2026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7772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804672"/>
            <a:ext cx="32004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5577840" y="804672"/>
            <a:ext cx="164592" cy="98755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Text 7"/>
          <p:cNvSpPr/>
          <p:nvPr/>
        </p:nvSpPr>
        <p:spPr>
          <a:xfrm>
            <a:off x="5806440" y="859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 —  20 SP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806440" y="115214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plan (target 25). Setup overhead: Atlas IP config, first Render deploy.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77840" y="1929384"/>
            <a:ext cx="32004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Shape 10"/>
          <p:cNvSpPr/>
          <p:nvPr/>
        </p:nvSpPr>
        <p:spPr>
          <a:xfrm>
            <a:off x="5577840" y="1929384"/>
            <a:ext cx="164592" cy="987552"/>
          </a:xfrm>
          <a:prstGeom prst="rect">
            <a:avLst/>
          </a:prstGeom>
          <a:solidFill>
            <a:srgbClr val="057A55"/>
          </a:solidFill>
          <a:ln w="12700">
            <a:solidFill>
              <a:srgbClr val="057A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1"/>
          <p:cNvSpPr/>
          <p:nvPr/>
        </p:nvSpPr>
        <p:spPr>
          <a:xfrm>
            <a:off x="5806440" y="1984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 —  35 SP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806440" y="22768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plan (target 32). Team rhythm established; MVP features well-understood.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577840" y="3054096"/>
            <a:ext cx="320040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4"/>
          <p:cNvSpPr/>
          <p:nvPr/>
        </p:nvSpPr>
        <p:spPr>
          <a:xfrm>
            <a:off x="5577840" y="3054096"/>
            <a:ext cx="164592" cy="9875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5"/>
          <p:cNvSpPr/>
          <p:nvPr/>
        </p:nvSpPr>
        <p:spPr>
          <a:xfrm>
            <a:off x="580644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 —  40 SP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806440" y="34015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trend. Integration overhead limited further acceleration compared with Sprint 2.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velocity: 31.7 SP/sprint  ·  Sprint 3 delivery stayed close to the expected range based on Sprint 2 velocity.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Final EVM Scorecard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"/>
            <a:ext cx="50292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StudyHub  ·  Smart Study Planner  ·  Spring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1920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365760" y="932688"/>
            <a:ext cx="19202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1989734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(Schedule Performance)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822960"/>
            <a:ext cx="1920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2468880" y="932688"/>
            <a:ext cx="19202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68880" y="1989734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(Cost Performance)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1920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4572000" y="932688"/>
            <a:ext cx="19202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72000" y="1989734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Delivered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 100 planned SP)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822960"/>
            <a:ext cx="1920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6675120" y="932688"/>
            <a:ext cx="19202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−24h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675120" y="1989734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(Cost Variance at Completion)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2926080"/>
          <a:ext cx="84124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365760" y="46817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stayed close to schedule and delivered most planned scope — but underestimated integration cost (CPI 0.81).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Risks That Materialized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"/>
            <a:ext cx="50292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StudyHub  ·  Smart Study Planner  ·  Spring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22960" cy="1737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365760" y="804672"/>
            <a:ext cx="822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896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Privacy — Missing Membership Check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25880" y="12252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GET routes initially returned data for any course_id without verifying the requester was a member.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25880" y="15179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is_course_member() guard to every hub route. All hub data is now membership-gated.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25880" y="1828800"/>
            <a:ext cx="7223760" cy="512064"/>
          </a:xfrm>
          <a:prstGeom prst="rect">
            <a:avLst/>
          </a:prstGeom>
          <a:solidFill>
            <a:srgbClr val="FFF7ED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1417320" y="1828800"/>
            <a:ext cx="704088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Ineffective contingency — risk was not identified in advance. Fix cost ~8 hrs to trace.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724912"/>
            <a:ext cx="8412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365760" y="2724912"/>
            <a:ext cx="822960" cy="1737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365760" y="2724912"/>
            <a:ext cx="822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28163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GridFS Learning Curve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25880" y="31455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upload, download, and cascade delete took 16 hrs vs. 4 hrs estimated.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325880" y="34381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Absorbed via overtime. No contingency had been planned for a new storage library.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325880" y="3749040"/>
            <a:ext cx="7223760" cy="512064"/>
          </a:xfrm>
          <a:prstGeom prst="rect">
            <a:avLst/>
          </a:prstGeom>
          <a:solidFill>
            <a:srgbClr val="FFF7ED"/>
          </a:solidFill>
          <a:ln w="9525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1417320" y="3749040"/>
            <a:ext cx="704088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Ineffective — treated as simple CRUD. Should have been a dedicated spike.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Lessons Learned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"/>
            <a:ext cx="50292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StudyHub  ·  Smart Study Planner  ·  Spring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658368" cy="1170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365760" y="804672"/>
            <a:ext cx="6583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143000" y="877824"/>
            <a:ext cx="100584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1143000" y="8778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40280" y="8595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infrastructure needs a spike first.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20700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GridFS was treated as a simple library call and estimated at 4 hrs. It took 16. Any new storage or auth model must be spiked before sprint planning — estimate at 3× the spike findings.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130552"/>
            <a:ext cx="8412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658368" cy="1170432"/>
          </a:xfrm>
          <a:prstGeom prst="rect">
            <a:avLst/>
          </a:prstGeom>
          <a:solidFill>
            <a:srgbClr val="057A55"/>
          </a:solidFill>
          <a:ln w="12700">
            <a:solidFill>
              <a:srgbClr val="057A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365760" y="2130552"/>
            <a:ext cx="6583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143000" y="2203704"/>
            <a:ext cx="1005840" cy="256032"/>
          </a:xfrm>
          <a:prstGeom prst="rect">
            <a:avLst/>
          </a:prstGeom>
          <a:solidFill>
            <a:srgbClr val="057A55"/>
          </a:solidFill>
          <a:ln w="12700">
            <a:solidFill>
              <a:srgbClr val="057A55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1143000" y="22037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0280" y="21854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must be part of Definition of Done.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53288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(who are you?) and authorization (are you allowed?) are separate layers. Every hub route needs an explicit membership check in its DoD checklist — not discovered during integration testing.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8412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365760" y="3456432"/>
            <a:ext cx="658368" cy="1170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365760" y="3456432"/>
            <a:ext cx="6583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143000" y="3529584"/>
            <a:ext cx="100584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Text 23"/>
          <p:cNvSpPr/>
          <p:nvPr/>
        </p:nvSpPr>
        <p:spPr>
          <a:xfrm>
            <a:off x="1143000" y="35295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Readiness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40280" y="35112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from a cold deployment, not a warm one.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85876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Render's free tier spins down after 15 minutes. The cold-start 502 appeared during rehearsal, not during development. Run a full Golden Path from cold at least 24 hrs before the defense.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StudyHub  ·  Smart Study Planner  ·  Spring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59536"/>
          </a:xfrm>
          <a:prstGeom prst="rect">
            <a:avLst/>
          </a:prstGeom>
          <a:solidFill>
            <a:srgbClr val="1A3A5C"/>
          </a:solidFill>
          <a:ln w="63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594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223760" y="1188720"/>
            <a:ext cx="1371600" cy="23774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7223760" y="11887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11338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Layout (US-22)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144475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highest-value next sprint. Most academic task management happens on a phone — the current desktop layout requires horizontal scrolling.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8412480" cy="859536"/>
          </a:xfrm>
          <a:prstGeom prst="rect">
            <a:avLst/>
          </a:prstGeom>
          <a:solidFill>
            <a:srgbClr val="1A3A5C"/>
          </a:solidFill>
          <a:ln w="63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502920" y="2084832"/>
            <a:ext cx="594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223760" y="2194560"/>
            <a:ext cx="1371600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7223760" y="21945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21396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Moderation Workflow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" y="245059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mechanism exists in hub_reports. Owner-facing review UI and hide/remove actions are not yet built.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8412480" cy="859536"/>
          </a:xfrm>
          <a:prstGeom prst="rect">
            <a:avLst/>
          </a:prstGeom>
          <a:solidFill>
            <a:srgbClr val="1A3A5C"/>
          </a:solidFill>
          <a:ln w="63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502920" y="3090672"/>
            <a:ext cx="594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23760" y="3200400"/>
            <a:ext cx="1371600" cy="23774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7223760" y="3200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" y="31455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Session Management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3000" y="345643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session uses browser storage. A production deployment requires server-side token validation or JWT-based authentication.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0" y="4206240"/>
            <a:ext cx="5852160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4" name="Text 22"/>
          <p:cNvSpPr/>
          <p:nvPr/>
        </p:nvSpPr>
        <p:spPr>
          <a:xfrm>
            <a:off x="1645920" y="420624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 Questions?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StudyHub  ·  Smart Study Planner  ·  Spring 2026  ·  Software Project Management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971</Words>
  <Application>Microsoft Office PowerPoint</Application>
  <PresentationFormat>‫הצגה על המסך (16:9)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4" baseType="lpstr">
      <vt:lpstr>Arial</vt:lpstr>
      <vt:lpstr>Calibri</vt:lpstr>
      <vt:lpstr>inherit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Study Planner — Final Defense</dc:title>
  <dc:subject>PptxGenJS Presentation</dc:subject>
  <dc:creator>StudyHub</dc:creator>
  <cp:lastModifiedBy>מחמוד ח'שאן</cp:lastModifiedBy>
  <cp:revision>5</cp:revision>
  <dcterms:created xsi:type="dcterms:W3CDTF">2026-06-03T13:33:32Z</dcterms:created>
  <dcterms:modified xsi:type="dcterms:W3CDTF">2026-06-03T17:12:10Z</dcterms:modified>
</cp:coreProperties>
</file>